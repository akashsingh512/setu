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18872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346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SETU (सेतु)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The Volunteer &amp; Lead Management CRM for Art of Living Programs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Connecting Seekers to Courses • Empowering Teachers • Seamless Seva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</a:defRPr>
            </a:pPr>
            <a:r>
              <a:t>A Comprehensive Guide for Art of Living Teachers &amp; Center Coordinators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CURRENT REALITY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Opportunity: Transforming How We Nurture Seekers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914400" cy="3200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PAIN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The 'Spreadsheet &amp; WhatsApp' Chaos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Leads from camps, intro talks, and kiosks are captured in paper sheets, individual phones, and fragmented Excel files.</a:t>
            </a:r>
            <a:br/>
            <a:br/>
            <a:r>
              <a:t>• Nobody knows who called whom</a:t>
            </a:r>
            <a:br/>
            <a:r>
              <a:t>• Overlapping or forgotten calls</a:t>
            </a:r>
            <a:br/>
            <a:r>
              <a:t>• Duplicate efforts across volunteers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1920240"/>
            <a:ext cx="914400" cy="3200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PAIN 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The 24-Hour Leaky Bucket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 seeker who attends an introductory talk has peak inspiration for 24-48 hours.</a:t>
            </a:r>
            <a:br/>
            <a:br/>
            <a:r>
              <a:t>• Calls delayed by 4-5 days go cold</a:t>
            </a:r>
            <a:br/>
            <a:r>
              <a:t>• 60%+ drop-off before registration</a:t>
            </a:r>
            <a:br/>
            <a:r>
              <a:t>• Enthusiastic volunteers don't get numbers in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914400" cy="3200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PAIN #3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Teacher Administrative Burnout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Teachers spend 70% of their energy on administrative follow-up coordination rather than meditation and teaching.</a:t>
            </a:r>
            <a:br/>
            <a:br/>
            <a:r>
              <a:t>• Hours spent assigning numbers manually</a:t>
            </a:r>
            <a:br/>
            <a:r>
              <a:t>• Zero visibility into volunteer calling status</a:t>
            </a:r>
            <a:br/>
            <a:r>
              <a:t>• High stress before every course cutoff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Setu: The Intelligent Bridge from Seeker to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7706"/>
                </a:solidFill>
              </a:defRPr>
            </a:pPr>
            <a:r>
              <a:t>What is Setu (सेतु)?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Purpose-Built for Art of Living: Designed specifically around our seva dynamics, teacher coordination, and course lifecycles.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One Single Source of Truth: Centralized cloud database (Supabase) protecting seeker data with enterprise security &amp; privacy.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Accessible Everywhere: Fast modern web portal + Android Mobile App (APK) for volunteers on the go.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Smart Auto-Reassignment: If a lead isn't contacted in 24 hours, Setu automatically reassigns it to an active volunteer.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Digital Volunteer (WhatsApp): Official WhatsApp assistant that lets volunteers request seva numbers and answers seeker FAQs.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10972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Streamlined Lead Pipeline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Capture from kiosks, website, camp booths, and distribute fairly without manual Excel sheets.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88920"/>
            <a:ext cx="52120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788920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89864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Volunteer Empowerment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1-tap calling, WhatsApp templates, capacity caps, and automatic reminders.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109728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4164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Digital Volunteer AI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Official WhatsApp integration for seva requests, group management &amp; FAQ bots.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074920"/>
            <a:ext cx="52120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5074920"/>
            <a:ext cx="109728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18464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Teacher Peace of Mind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Live dashboard, conversion reports, zero forgotten leads, and high course turnout.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Central Dashboard: Live Pulse of Your Chapter</a:t>
            </a:r>
          </a:p>
        </p:txBody>
      </p:sp>
      <p:pic>
        <p:nvPicPr>
          <p:cNvPr id="5" name="Picture 4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At a Glance Clarity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Real-Time KPI Cards:  Instantly see Total Leads, Pending Follow-ups, and Contacted Ratios across all active programs.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Recent Assignment Stream:  Live feed showing which volunteer was assigned which lead, with exact timestamps.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Contact Health Monitoring:  Flags leads requiring attention so teachers can intervene before a course begins.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Role-Based Views:  Teachers see their chapter/team metrics; volunteers see their personal assigned seva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Lead Pipeline: Zero Inquiries Left Behind</a:t>
            </a:r>
          </a:p>
        </p:txBody>
      </p:sp>
      <p:pic>
        <p:nvPicPr>
          <p:cNvPr id="5" name="Picture 4" descr="02_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Structured Seeker Journey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Multi-Stage Pipeline:  Categorized under: New, Contacted, Interested, Follow-up Scheduled, Registered, and Closed.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Instant Smart Search &amp; Filters:  Filter in seconds by course (Happiness Program, Sahaj), locality, assignee, or contact status.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Bulk Assignment in 1 Click:  Teachers can select 20 or 50 leads and distribute them fairly across available volunteers.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No Accidental Overwrites:  All assignments, calls, and status updates are logged immutably in database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Volunteer Action View: 1-Tap Call &amp; Meeting Notes</a:t>
            </a:r>
          </a:p>
        </p:txBody>
      </p:sp>
      <p:pic>
        <p:nvPicPr>
          <p:cNvPr id="5" name="Picture 4" descr="03_lead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Designed for Fast Seva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1-Tap Direct Call:  Volunteers tap 'Call' to trigger their phone dialer instantly without typing numbers.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1-Tap WhatsApp:  Pre-crafted Art of Living course greeting template opened straight in WhatsApp with seeker's name.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Call Outcome Recording:  One tap to log outcome: Connected, Left Voicemail, Wrong Number, or Call Later.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Chronological Timeline:  Previous notes and call history stay permanently with the lead, even if reassigned.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THE SECRET TO HIGH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24-Hour First Contact Rule &amp; Automated Reassignment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1645920" cy="32004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HOURS 0 - 24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Step 1: Lead Assigned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 lead is assigned to a volunteer.</a:t>
            </a:r>
            <a:br/>
            <a:br/>
            <a:r>
              <a:t>• Countdown starts (default 24h)</a:t>
            </a:r>
            <a:br/>
            <a:r>
              <a:t>• Volunteer receives in-app alert</a:t>
            </a:r>
            <a:br/>
            <a:r>
              <a:t>• Lead details visible on their mobile app</a:t>
            </a:r>
            <a:br/>
            <a:r>
              <a:t>• Lead capacity counter increases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1920240"/>
            <a:ext cx="1645920" cy="3200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IDEAL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Step 2: 1st Qualifying Call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Volunteer connects with the seeker and records the call outcome in Setu.</a:t>
            </a:r>
            <a:br/>
            <a:br/>
            <a:r>
              <a:t>• First Contact timestamp locked</a:t>
            </a:r>
            <a:br/>
            <a:r>
              <a:t>• Lead is SECURED to volunteer</a:t>
            </a:r>
            <a:br/>
            <a:r>
              <a:t>• Auto-reassignment timer permanently turns off</a:t>
            </a:r>
            <a:br/>
            <a:r>
              <a:t>• Follow-up date scheduled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1645920" cy="32004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FAIL-SAFE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Step 3: Auto-Reassignment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If no call attempt is recorded within 24 hours:</a:t>
            </a:r>
            <a:br/>
            <a:br/>
            <a:r>
              <a:t>• Server cron reassigns to next available volunteer</a:t>
            </a:r>
            <a:br/>
            <a:r>
              <a:t>• Previous volunteer notified gracefully</a:t>
            </a:r>
            <a:br/>
            <a:r>
              <a:t>• Zero guilt, zero friction</a:t>
            </a:r>
            <a:br/>
            <a:r>
              <a:t>• Seeker gets called while still interested!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FEATURE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Volunteer Care &amp; Workload Protection</a:t>
            </a:r>
          </a:p>
        </p:txBody>
      </p:sp>
      <p:pic>
        <p:nvPicPr>
          <p:cNvPr id="5" name="Picture 4" descr="04_volunt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Joyful &amp; Balanced Seva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Workload Caps (Max Open Leads):  Set individual limits (e.g., 5 or 10 leads) so no volunteer feels overwhelmed.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'Accepting Leads' Toggle:  Volunteers traveling or on silence retreats can toggle their availability OFF in 1 click.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Real-Time Capacity Monitoring:  Teachers see exactly who has bandwidth to take fresh leads before an intro talk.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Transparent Seva History:  Celebrates volunteer dedication with historical call counts and confirmed course registrations.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FEATURE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Programs &amp; Upcoming Batches at Your Fingertips</a:t>
            </a:r>
          </a:p>
        </p:txBody>
      </p:sp>
      <p:pic>
        <p:nvPicPr>
          <p:cNvPr id="5" name="Picture 4" descr="05_upcoming_p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Never Miss a Batch Date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Course Schedule Hub:  Complete calendar for Happiness Program, Sahaj Samadhi, Medha Yoga, DSN, and Sri Sri Yoga.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Registration &amp; Venue Links:  Official portal links, Google Maps locations, and session timings stored in one spot.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Synchronized with WhatsApp:  Digital Volunteer bot uses this exact database to answer seeker queries automatically!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Teacher Attribution:  Clearly shows conducting teachers, venue coordinators, and contact persons for each batch.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FEATURE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Digital Volunteer: WhatsApp Assistant for Seva</a:t>
            </a:r>
          </a:p>
        </p:txBody>
      </p:sp>
      <p:pic>
        <p:nvPicPr>
          <p:cNvPr id="5" name="Picture 4" descr="07_digital_volunt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7706"/>
                </a:solidFill>
              </a:defRPr>
            </a:pPr>
            <a:r>
              <a:t>Official WhatsApp Assistant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On-Demand Seva via WhatsApp:  Volunteers message 'I want to do seva, send 5 numbers' → Setu privately shares unassigned leads!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1-Tap Teacher Approval:  Teachers can approve seva lead requests directly by replying 'YES 12' in WhatsApp.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Automated Course Answers:  Answers questions about dates, venue, and fees using verified course data.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Privacy &amp; Safety First:  Phone numbers are never posted into community groups; sent strictly to verified volunteers.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Emergency Kill Switch:  Single click to pause or turn off WhatsApp bot instantly if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FEATURE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Offline Lead Capture: Perfect for Camps &amp; Kiosks</a:t>
            </a:r>
          </a:p>
        </p:txBody>
      </p:sp>
      <p:pic>
        <p:nvPicPr>
          <p:cNvPr id="5" name="Picture 4" descr="08_offline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No Wi-Fi? No Problem!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Mobile-Optimized Fast Form:  Clean, fast form designed for volunteer tablets and phones at busy event registration desks.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Service Worker Offline Engine:  Works even in basements, parks, or remote camp locations with zero internet.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Auto-Sync on Reconnect:  When the phone reconnects to 4G/Wi-Fi, all collected leads automatically sync into Setu.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Replaces Paper Registers:  Eliminates handwriting deciphering errors and lost sheets forever.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FEATURE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Actionable Reports: Data-Driven Seva Growth</a:t>
            </a:r>
          </a:p>
        </p:txBody>
      </p:sp>
      <p:pic>
        <p:nvPicPr>
          <p:cNvPr id="5" name="Picture 4" descr="09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Continuous Learning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Daily Calling Activity Graph:  See call volumes day by day in the 2 weeks leading up to course day.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Outcome Breakdown:  Understand how many inquiries converted to Registered, Callback Later, or Not Reachable.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Lead Source Effectiveness:  Pinpoint which intro talks, colleges, or flyer distributions bring real registrations.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Team Recognition:  Acknowledge and appreciate the top calling volunteers during chapter satsangs.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MOBILE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Native Android App: Setu in Every Volunteer's Pocket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Volunteer Mobile Experience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Direct Sideloadable APK:  Downloadable directly from GitHub Releases without requiring Google Play Store.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Capacitor 7 Architecture:  High performance, secure HTTPS WebView connected directly to the live server.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Native Integration:  Tapping a phone number opens the native phone dialer; WhatsApp links open the WhatsApp app.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Lightweight &amp; Fast:  Only ~4 MB download size, runs smoothly on any Android phone (Android 6.0 to 14+).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Automatic Updates:  Always serves the freshest features and course data with zero manual app reinstallations.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7706"/>
                </a:solidFill>
              </a:defRPr>
            </a:pPr>
            <a:r>
              <a:t>Simple 3-Step Volunteer Setup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1. Download the APK Link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Open the GitHub Release link on your Android phone and download Setu-1.0.X.apk.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2. Enable Install Unknown Apps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If prompted by Android, toggle 'Allow from this source' for your browser.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3. Log In &amp; Start Seva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Open Setu, log in with your volunteer account, and immediately view your assigned leads!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TEACHER IMPACT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Transformation: Managing Courses Before vs. With Setu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2626"/>
                </a:solidFill>
              </a:defRPr>
            </a:pPr>
            <a:r>
              <a:t>❌ BEFORE SETU</a:t>
            </a:r>
          </a:p>
          <a:p>
            <a:pPr>
              <a:defRPr sz="1200">
                <a:solidFill>
                  <a:srgbClr val="7F1D1D"/>
                </a:solidFill>
              </a:defRPr>
            </a:pPr>
            <a:r>
              <a:t>• Multiple Excel files and paper notes scattered across volunteer phones.</a:t>
            </a:r>
          </a:p>
          <a:p>
            <a:pPr>
              <a:defRPr sz="1200">
                <a:solidFill>
                  <a:srgbClr val="7F1D1D"/>
                </a:solidFill>
              </a:defRPr>
            </a:pPr>
            <a:r>
              <a:t>• Leads go cold after 4-5 days; 60%+ dropout rate before registration.</a:t>
            </a:r>
          </a:p>
          <a:p>
            <a:pPr>
              <a:defRPr sz="1200">
                <a:solidFill>
                  <a:srgbClr val="7F1D1D"/>
                </a:solidFill>
              </a:defRPr>
            </a:pPr>
            <a:r>
              <a:t>• Teacher manually copies &amp; pastes phone numbers to WhatsApp groups.</a:t>
            </a:r>
          </a:p>
          <a:p>
            <a:pPr>
              <a:defRPr sz="1200">
                <a:solidFill>
                  <a:srgbClr val="7F1D1D"/>
                </a:solidFill>
              </a:defRPr>
            </a:pPr>
            <a:r>
              <a:t>• Volunteers get burnt out or forget who they already called.</a:t>
            </a:r>
          </a:p>
          <a:p>
            <a:pPr>
              <a:defRPr sz="1200">
                <a:solidFill>
                  <a:srgbClr val="7F1D1D"/>
                </a:solidFill>
              </a:defRPr>
            </a:pPr>
            <a:r>
              <a:t>• Zero visibility into why people didn't register or if they were called.</a:t>
            </a:r>
          </a:p>
          <a:p>
            <a:pPr>
              <a:defRPr sz="1200">
                <a:solidFill>
                  <a:srgbClr val="7F1D1D"/>
                </a:solidFill>
              </a:defRPr>
            </a:pPr>
            <a:r>
              <a:t>• Panic and stress in the final 48 hours before course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✅ WITH SETU</a:t>
            </a:r>
          </a:p>
          <a:p>
            <a:pPr>
              <a:defRPr sz="1200">
                <a:solidFill>
                  <a:srgbClr val="14532D"/>
                </a:solidFill>
              </a:defRPr>
            </a:pPr>
            <a:r>
              <a:t>• Single, secure cloud database accessible on web and mobile phones.</a:t>
            </a:r>
          </a:p>
          <a:p>
            <a:pPr>
              <a:defRPr sz="1200">
                <a:solidFill>
                  <a:srgbClr val="14532D"/>
                </a:solidFill>
              </a:defRPr>
            </a:pPr>
            <a:r>
              <a:t>• 24-Hour Contact Rule guarantees fresh engagement and high turnout.</a:t>
            </a:r>
          </a:p>
          <a:p>
            <a:pPr>
              <a:defRPr sz="1200">
                <a:solidFill>
                  <a:srgbClr val="14532D"/>
                </a:solidFill>
              </a:defRPr>
            </a:pPr>
            <a:r>
              <a:t>• 1-click bulk assignment + WhatsApp seva bot sends leads automatically.</a:t>
            </a:r>
          </a:p>
          <a:p>
            <a:pPr>
              <a:defRPr sz="1200">
                <a:solidFill>
                  <a:srgbClr val="14532D"/>
                </a:solidFill>
              </a:defRPr>
            </a:pPr>
            <a:r>
              <a:t>• Workload caps and availability toggles protect volunteer energy.</a:t>
            </a:r>
          </a:p>
          <a:p>
            <a:pPr>
              <a:defRPr sz="1200">
                <a:solidFill>
                  <a:srgbClr val="14532D"/>
                </a:solidFill>
              </a:defRPr>
            </a:pPr>
            <a:r>
              <a:t>• Clear timeline, call notes, and analytics for every single seeker.</a:t>
            </a:r>
          </a:p>
          <a:p>
            <a:pPr>
              <a:defRPr sz="1200">
                <a:solidFill>
                  <a:srgbClr val="14532D"/>
                </a:solidFill>
              </a:defRPr>
            </a:pPr>
            <a:r>
              <a:t>• Teachers focus on teaching, meditation, and personal mentoring!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Getting Started: 3 Simple Steps for Teachers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How to roll out Setu for your upcoming Happiness Program or Course Batch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2918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377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Step 1: Set Up Upcoming Batches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1. Log in to Setu Web.</a:t>
            </a:r>
            <a:br/>
            <a:r>
              <a:t>2. Navigate to 'Courses &amp; Upcoming'.</a:t>
            </a:r>
            <a:br/>
            <a:r>
              <a:t>3. Add your course dates, venue, timing, and official registration link.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103120"/>
            <a:ext cx="32918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2377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08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Step 2: Onboard Volunteers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1. Invite chapter volunteers via email or share the Setu APK link.</a:t>
            </a:r>
            <a:br/>
            <a:r>
              <a:t>2. Set reasonable workload caps (e.g. 5 leads per volunteer).</a:t>
            </a:r>
            <a:br/>
            <a:r>
              <a:t>3. Confirm their availability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2918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2377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Step 3: Capture &amp; Flow Seva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1. Use /capture at upcoming satsangs or intro sessions.</a:t>
            </a:r>
            <a:br/>
            <a:r>
              <a:t>2. Assign leads to volunteers in 1 click or let them request via WhatsApp.</a:t>
            </a:r>
            <a:br/>
            <a:r>
              <a:t>3. Watch registrations grow seamlessly!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Jai Gurudev! • Together, Let Us Connect More Seekers to the Wisdom of the Art of Living.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